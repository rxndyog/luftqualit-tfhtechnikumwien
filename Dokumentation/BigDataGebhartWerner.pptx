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CC8F82-9309-401F-A726-27CFC1F044EC}" type="datetimeFigureOut">
              <a:rPr lang="de-AT" smtClean="0"/>
              <a:t>15.01.2026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0C7074-E2B0-4B7B-812B-8F504B74FE3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683032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0C7074-E2B0-4B7B-812B-8F504B74FE3D}" type="slidenum">
              <a:rPr lang="de-AT" smtClean="0"/>
              <a:t>18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2639193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0A082B-6C6D-8954-B00B-68D461DF19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B929CD8-DBCB-966F-71F9-AAAC78149D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09F2FCB-5BC5-72E2-E4AD-B5800DB09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F9918-6D8F-4E2D-A460-7992F40A49AF}" type="datetimeFigureOut">
              <a:rPr lang="de-AT" smtClean="0"/>
              <a:t>15.01.2026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644E8A-7B31-017A-D36D-84AAB68C3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F6E4BC7-CF75-D6FE-F204-E4E7CDB88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AAD43-4235-4AE1-A603-DBCD948B8F6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002568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38BA6F-996C-5252-6775-DDE6C582A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33B0871-9627-B29C-E4A4-5201803383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E3C842F-7817-A3E6-25AA-52D40D2FB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F9918-6D8F-4E2D-A460-7992F40A49AF}" type="datetimeFigureOut">
              <a:rPr lang="de-AT" smtClean="0"/>
              <a:t>15.01.2026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07796ED-EF0B-948C-1627-181E698DD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33A3660-1950-ED24-C046-14E9B8D08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AAD43-4235-4AE1-A603-DBCD948B8F6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77337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D978A2-72A5-6159-6D85-9201F7D7A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F31CC14-371F-54E8-1956-7C2D42108B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E76D2CE-1730-AD5E-EF1B-38BC323C8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F9918-6D8F-4E2D-A460-7992F40A49AF}" type="datetimeFigureOut">
              <a:rPr lang="de-AT" smtClean="0"/>
              <a:t>15.01.2026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F874012-DF60-180D-5F0D-76022CB4A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ADA5AC7-7264-31A5-AE63-DFAA40A42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AAD43-4235-4AE1-A603-DBCD948B8F6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10077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C89182-9C58-E07C-F7BE-095219125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E8EC096-C0D2-8BE9-682E-66530AE591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6C38118-0960-1AE5-B492-21D32100FB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48BC36A-0D50-BC66-821F-5073FE63D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F9918-6D8F-4E2D-A460-7992F40A49AF}" type="datetimeFigureOut">
              <a:rPr lang="de-AT" smtClean="0"/>
              <a:t>15.01.2026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740A559-74CA-F8CA-189B-8D383DE40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D3F844A-29EB-FB2D-0FE6-9808A2808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AAD43-4235-4AE1-A603-DBCD948B8F6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239313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BC6DCA-A615-6A14-19F8-FCFA77EC5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20EFE87-637B-0A47-2B32-86D1C5F1DD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8E6B007-7975-8A15-9A0A-D21D64123A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C2AF82A-E871-40FD-C601-E976CCECDC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DB6B85C-1E4D-F7B2-8291-847B687CC5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BEBD9D7-4A8D-D8B3-5C14-62225E1F0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F9918-6D8F-4E2D-A460-7992F40A49AF}" type="datetimeFigureOut">
              <a:rPr lang="de-AT" smtClean="0"/>
              <a:t>15.01.2026</a:t>
            </a:fld>
            <a:endParaRPr lang="de-AT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48FDADF-0873-3D26-99B3-4C4AEE13D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B8589D5-709F-ACFF-A4CA-52B4A0EE3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AAD43-4235-4AE1-A603-DBCD948B8F6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59071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9EAFD1-2F9D-8E0D-E8BE-86D42A368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97AC157-DDB6-A3F6-CA7E-1B9917D02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F9918-6D8F-4E2D-A460-7992F40A49AF}" type="datetimeFigureOut">
              <a:rPr lang="de-AT" smtClean="0"/>
              <a:t>15.01.2026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CDFD08B-8722-B061-F7FE-308384624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3C4FE1E-AF11-795A-255F-32D445B3E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AAD43-4235-4AE1-A603-DBCD948B8F6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477094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4B1DDC9-B2D1-47B0-3D1E-080D85877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F9918-6D8F-4E2D-A460-7992F40A49AF}" type="datetimeFigureOut">
              <a:rPr lang="de-AT" smtClean="0"/>
              <a:t>15.01.2026</a:t>
            </a:fld>
            <a:endParaRPr lang="de-A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22603F3-5674-DB30-7FE8-77B8854E5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E9AD4C0-CEEE-558B-5148-4A9C13AD7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AAD43-4235-4AE1-A603-DBCD948B8F6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255533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4AFBBB-0E05-4F04-C962-64C84B3B4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1A3DA67-B437-051D-80B0-985FC0FDBD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E1AF091-EC7B-B761-A0D8-0B3C94F481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E6BC545-9135-B0BD-54C3-A4BF8D059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F9918-6D8F-4E2D-A460-7992F40A49AF}" type="datetimeFigureOut">
              <a:rPr lang="de-AT" smtClean="0"/>
              <a:t>15.01.2026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E2E0EA8-3A0C-0C00-56AB-C4C1E5162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E923F12-C802-662F-4079-A0ECF8AD9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AAD43-4235-4AE1-A603-DBCD948B8F6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11098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17C6D4-9C1B-AA7B-2AA1-5BBD32253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907E3F2-952B-79CF-9756-40860B9016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ABF451D-0FA0-ADAF-630B-C090530E7D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24C091F-EF89-E890-8B5A-3843DAEF9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F9918-6D8F-4E2D-A460-7992F40A49AF}" type="datetimeFigureOut">
              <a:rPr lang="de-AT" smtClean="0"/>
              <a:t>15.01.2026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EB58AC9-6D6A-B379-75A1-A3ABCFAEB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D062C8A-0ACE-C093-3589-93C0A4ED9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AAD43-4235-4AE1-A603-DBCD948B8F6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100575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F4295D-42CF-D81C-B456-40DFFB038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9945438-2C99-C9BB-7634-267AABB78C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88EC32E-6902-9C88-9D88-D91BA0046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F9918-6D8F-4E2D-A460-7992F40A49AF}" type="datetimeFigureOut">
              <a:rPr lang="de-AT" smtClean="0"/>
              <a:t>15.01.2026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00C0910-C6A4-67A6-0E73-17D225A44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9F79FBD-0C69-B4DF-3781-0CAC6A58C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AAD43-4235-4AE1-A603-DBCD948B8F6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184139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609D707-E374-BD3C-2875-BE3E4599E4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512537A-7B2F-5C59-CD07-56FC755B0C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66E0395-C51E-51AA-525E-A37EAE9B2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F9918-6D8F-4E2D-A460-7992F40A49AF}" type="datetimeFigureOut">
              <a:rPr lang="de-AT" smtClean="0"/>
              <a:t>15.01.2026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04502B5-2A79-FD47-C0C4-92395948C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FEE996B-855B-E85D-C4FB-78246FA8C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AAD43-4235-4AE1-A603-DBCD948B8F6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865878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2362032-C6BC-CEE0-BC28-71DE56918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9C43FFA-B8F5-A6EA-660E-A32BCDC28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4AAAE4F-25B4-B791-6B50-D865D4D976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DF9918-6D8F-4E2D-A460-7992F40A49AF}" type="datetimeFigureOut">
              <a:rPr lang="de-AT" smtClean="0"/>
              <a:t>15.01.2026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C027FB3-F75B-34AB-9756-5ECFEEB361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4C66C6F-DB7D-9748-457C-CBF008418C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9AAD43-4235-4AE1-A603-DBCD948B8F6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127916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air-quality-api.open-meteo.com/v1/air-quality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wko.at/statistik/jahrbuch/verkehr-pkwdichte.pdf" TargetMode="External"/><Relationship Id="rId5" Type="http://schemas.openxmlformats.org/officeDocument/2006/relationships/hyperlink" Target="https://www.stateofglobalair.org/" TargetMode="External"/><Relationship Id="rId4" Type="http://schemas.openxmlformats.org/officeDocument/2006/relationships/hyperlink" Target="https://www.data.gv.at/datasets/7a5d006d-2820-4a72-8085-023af83041d8?locale=d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16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ECEC312-EC24-157D-D66B-0A2BFCDE64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093788"/>
            <a:ext cx="10506455" cy="2967208"/>
          </a:xfrm>
        </p:spPr>
        <p:txBody>
          <a:bodyPr>
            <a:normAutofit/>
          </a:bodyPr>
          <a:lstStyle/>
          <a:p>
            <a:pPr algn="l"/>
            <a:r>
              <a:rPr lang="de-AT" sz="6800"/>
              <a:t>Luftqualität im Zusammenhang mit Verkehrsteilnehmer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A1C19BD-91BE-3E9E-1264-62A9DA063E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00924" y="4619624"/>
            <a:ext cx="3946779" cy="1038225"/>
          </a:xfrm>
        </p:spPr>
        <p:txBody>
          <a:bodyPr>
            <a:normAutofit/>
          </a:bodyPr>
          <a:lstStyle/>
          <a:p>
            <a:pPr algn="r"/>
            <a:r>
              <a:rPr lang="de-AT" dirty="0"/>
              <a:t>Daniel Gebhart, Stefan Werner</a:t>
            </a:r>
            <a:endParaRPr lang="de-AT"/>
          </a:p>
        </p:txBody>
      </p:sp>
      <p:sp>
        <p:nvSpPr>
          <p:cNvPr id="30" name="Rectangle 18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1" name="Rectangle 20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5767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F6308FC-788C-7773-A7B4-0DFB21B12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de-AT" sz="5400"/>
              <a:t>Data Source</a:t>
            </a:r>
          </a:p>
        </p:txBody>
      </p:sp>
      <p:sp>
        <p:nvSpPr>
          <p:cNvPr id="27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BBCCD09-2EF4-A141-265E-C5283F4C00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de-AT" sz="2000" b="1" dirty="0"/>
              <a:t>Luftqualität:</a:t>
            </a:r>
          </a:p>
          <a:p>
            <a:pPr lvl="1"/>
            <a:r>
              <a:rPr lang="de-AT" sz="2000" dirty="0"/>
              <a:t>State </a:t>
            </a:r>
            <a:r>
              <a:rPr lang="de-AT" sz="2000" dirty="0" err="1"/>
              <a:t>of</a:t>
            </a:r>
            <a:r>
              <a:rPr lang="de-AT" sz="2000" dirty="0"/>
              <a:t> Global Air (State </a:t>
            </a:r>
            <a:r>
              <a:rPr lang="de-AT" sz="2000" dirty="0" err="1"/>
              <a:t>of</a:t>
            </a:r>
            <a:r>
              <a:rPr lang="de-AT" sz="2000" dirty="0"/>
              <a:t> Global Air Reports, 2024–2025)</a:t>
            </a:r>
          </a:p>
          <a:p>
            <a:pPr lvl="1"/>
            <a:r>
              <a:rPr lang="de-AT" sz="2000" dirty="0" err="1"/>
              <a:t>Kaggle</a:t>
            </a:r>
            <a:r>
              <a:rPr lang="de-AT" sz="2000" dirty="0"/>
              <a:t> Datensätze zur globalen Luftqualität</a:t>
            </a:r>
          </a:p>
          <a:p>
            <a:pPr lvl="1"/>
            <a:r>
              <a:rPr lang="de-AT" sz="2000" dirty="0" err="1"/>
              <a:t>OpenWeatherMap</a:t>
            </a:r>
            <a:r>
              <a:rPr lang="de-AT" sz="2000" dirty="0"/>
              <a:t> API</a:t>
            </a:r>
          </a:p>
          <a:p>
            <a:pPr lvl="1"/>
            <a:r>
              <a:rPr lang="de-AT" sz="2000" dirty="0"/>
              <a:t>NOAA Climate Data</a:t>
            </a:r>
          </a:p>
          <a:p>
            <a:r>
              <a:rPr lang="de-AT" sz="2000" b="1" dirty="0"/>
              <a:t>Wetterdaten (APIs):</a:t>
            </a:r>
          </a:p>
          <a:p>
            <a:pPr lvl="1"/>
            <a:r>
              <a:rPr lang="de-AT" sz="2000" dirty="0" err="1"/>
              <a:t>Meteostat</a:t>
            </a:r>
            <a:r>
              <a:rPr lang="de-AT" sz="2000" dirty="0"/>
              <a:t> API</a:t>
            </a:r>
          </a:p>
          <a:p>
            <a:r>
              <a:rPr lang="de-AT" sz="2000" b="1" dirty="0"/>
              <a:t>Verkehrsdaten:</a:t>
            </a:r>
          </a:p>
          <a:p>
            <a:pPr lvl="1"/>
            <a:r>
              <a:rPr lang="de-AT" sz="2000" dirty="0"/>
              <a:t>Öffentliche Verkehrsdaten (Open Traffic Data)</a:t>
            </a:r>
          </a:p>
          <a:p>
            <a:pPr lvl="1"/>
            <a:r>
              <a:rPr lang="de-AT" sz="2000" dirty="0"/>
              <a:t>Statistik Straße und Verkehr, Bundesministerium Innovation, Mobilität und Infrastruktur (PDF Version 2025)</a:t>
            </a:r>
          </a:p>
          <a:p>
            <a:pPr lvl="1"/>
            <a:r>
              <a:rPr lang="de-AT" sz="2000" dirty="0"/>
              <a:t>Verkehr Statistik der WKO (PDF Version 2025)</a:t>
            </a:r>
          </a:p>
          <a:p>
            <a:pPr lvl="1"/>
            <a:r>
              <a:rPr lang="de-AT" sz="2000" dirty="0"/>
              <a:t>Google Maps Traffic API (im Endeffekt nicht benutzt)</a:t>
            </a:r>
          </a:p>
          <a:p>
            <a:endParaRPr lang="de-AT" sz="2000" dirty="0"/>
          </a:p>
        </p:txBody>
      </p:sp>
    </p:spTree>
    <p:extLst>
      <p:ext uri="{BB962C8B-B14F-4D97-AF65-F5344CB8AC3E}">
        <p14:creationId xmlns:p14="http://schemas.microsoft.com/office/powerpoint/2010/main" val="1541439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4F156BC-552C-37C5-13FF-CEB946F3E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de-AT" sz="4200"/>
              <a:t>Datenerhebung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F5019EA-F3AE-8885-479E-8425C6D5AB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de-DE" sz="2200"/>
              <a:t>API-Abfragen (z. B. Schadstoff und Verkehrsdaten)</a:t>
            </a:r>
          </a:p>
          <a:p>
            <a:r>
              <a:rPr lang="de-DE" sz="2200"/>
              <a:t>Download vorhandener Datensätze (z. B. Kaggle, Reports, PDfs)</a:t>
            </a:r>
          </a:p>
          <a:p>
            <a:r>
              <a:rPr lang="de-DE" sz="2200"/>
              <a:t>Webscraping für Daten, die nicht direkt über APIs verfügbar sind</a:t>
            </a:r>
            <a:endParaRPr lang="de-AT" sz="2200"/>
          </a:p>
        </p:txBody>
      </p:sp>
    </p:spTree>
    <p:extLst>
      <p:ext uri="{BB962C8B-B14F-4D97-AF65-F5344CB8AC3E}">
        <p14:creationId xmlns:p14="http://schemas.microsoft.com/office/powerpoint/2010/main" val="2964121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0574C0E-94E8-0A3A-BC29-2A4F89D67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de-AT" sz="4600"/>
              <a:t>Datenqualität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7D1FD6D-FB7C-ED12-ACBB-EF5378D77B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de-AT" sz="2200"/>
              <a:t>Luftschadstoffe (PM2.5, PM10, NO2, O3 …)</a:t>
            </a:r>
          </a:p>
          <a:p>
            <a:r>
              <a:rPr lang="de-AT" sz="2200"/>
              <a:t>Zeitstempel (Datum, Uhrzeit, Jahr)</a:t>
            </a:r>
          </a:p>
          <a:p>
            <a:r>
              <a:rPr lang="de-AT" sz="2200"/>
              <a:t>Geografische Informationen (Bundesland, Bezirk)</a:t>
            </a:r>
          </a:p>
          <a:p>
            <a:r>
              <a:rPr lang="de-AT" sz="2200"/>
              <a:t>Verkehrsindikatoren (Verkehrsteilnehmer pro Jahr)</a:t>
            </a:r>
          </a:p>
          <a:p>
            <a:r>
              <a:rPr lang="de-AT" sz="2200" b="1"/>
              <a:t>Schema Schadstoffe: </a:t>
            </a:r>
          </a:p>
          <a:p>
            <a:pPr lvl="1"/>
            <a:r>
              <a:rPr lang="de-DE" sz="2200"/>
              <a:t>Region;Schadstoff;Einheit;NFR_Code;Trendbericht_Sektor;Quelle;Datenstand;Jahr;Werte</a:t>
            </a:r>
            <a:endParaRPr lang="de-AT" sz="2200"/>
          </a:p>
          <a:p>
            <a:r>
              <a:rPr lang="de-AT" sz="2200" b="1"/>
              <a:t>Schema Verkehr:</a:t>
            </a:r>
          </a:p>
          <a:p>
            <a:pPr lvl="1"/>
            <a:r>
              <a:rPr lang="de-AT" sz="2200"/>
              <a:t>1980;1990;2000 - 2024;Bundesland;</a:t>
            </a:r>
          </a:p>
          <a:p>
            <a:pPr lvl="1"/>
            <a:endParaRPr lang="de-AT" sz="2200"/>
          </a:p>
        </p:txBody>
      </p:sp>
    </p:spTree>
    <p:extLst>
      <p:ext uri="{BB962C8B-B14F-4D97-AF65-F5344CB8AC3E}">
        <p14:creationId xmlns:p14="http://schemas.microsoft.com/office/powerpoint/2010/main" val="4022357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00D31F2-976C-D0B4-70F7-A8C1468CF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de-AT" sz="5400"/>
              <a:t>Benutze Daten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AD6B62A-E927-62C0-6690-479C8F0575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de-AT" sz="2000" b="1" dirty="0"/>
              <a:t>Schadstoffe: </a:t>
            </a:r>
          </a:p>
          <a:p>
            <a:pPr lvl="1"/>
            <a:r>
              <a:rPr lang="de-AT" sz="2000" dirty="0"/>
              <a:t>NOX, SO2, NMVOC, NH3, PM2.5</a:t>
            </a:r>
          </a:p>
          <a:p>
            <a:pPr lvl="2"/>
            <a:r>
              <a:rPr lang="de-AT" dirty="0"/>
              <a:t>Grund: Fehlende Werte, nicht zusammenhängende Werte</a:t>
            </a:r>
          </a:p>
          <a:p>
            <a:pPr lvl="1"/>
            <a:r>
              <a:rPr lang="de-AT" sz="2000" dirty="0"/>
              <a:t>Durchschnitt Jahr, Bundesländer</a:t>
            </a:r>
          </a:p>
          <a:p>
            <a:pPr lvl="2"/>
            <a:r>
              <a:rPr lang="de-AT" dirty="0"/>
              <a:t>Grund: Fehlende Monate bei Verkehr sowie Städte</a:t>
            </a:r>
          </a:p>
          <a:p>
            <a:r>
              <a:rPr lang="de-AT" sz="2000" b="1" dirty="0"/>
              <a:t>Verkehrsteilnehmer: </a:t>
            </a:r>
          </a:p>
          <a:p>
            <a:pPr lvl="1"/>
            <a:r>
              <a:rPr lang="de-AT" sz="2000" dirty="0"/>
              <a:t>PKWs, Kombis</a:t>
            </a:r>
          </a:p>
          <a:p>
            <a:pPr lvl="2"/>
            <a:r>
              <a:rPr lang="de-AT" dirty="0"/>
              <a:t>Grund: Nicht genug werte für Motoräder etc..</a:t>
            </a:r>
          </a:p>
          <a:p>
            <a:pPr lvl="1"/>
            <a:r>
              <a:rPr lang="de-AT" sz="2000" dirty="0"/>
              <a:t>Jahr, Bundesland</a:t>
            </a:r>
          </a:p>
          <a:p>
            <a:pPr lvl="2"/>
            <a:r>
              <a:rPr lang="de-AT" dirty="0"/>
              <a:t>Grund: Keine Monatswerte, Keine Stadtwerte nur Bundesland</a:t>
            </a:r>
          </a:p>
          <a:p>
            <a:endParaRPr lang="de-AT" sz="2000" dirty="0"/>
          </a:p>
        </p:txBody>
      </p:sp>
    </p:spTree>
    <p:extLst>
      <p:ext uri="{BB962C8B-B14F-4D97-AF65-F5344CB8AC3E}">
        <p14:creationId xmlns:p14="http://schemas.microsoft.com/office/powerpoint/2010/main" val="3760767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B82CC52-FBD5-3DD3-8544-AF6BAFDD5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de-AT" sz="5400"/>
              <a:t>Data Storage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7E3C98B-4041-3506-83A5-45B8DC795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de-AT" sz="2200"/>
              <a:t>Docker mit Mongo Image</a:t>
            </a:r>
          </a:p>
          <a:p>
            <a:pPr lvl="1"/>
            <a:r>
              <a:rPr lang="de-AT" sz="2200"/>
              <a:t>NoSQL</a:t>
            </a:r>
          </a:p>
          <a:p>
            <a:pPr lvl="1"/>
            <a:r>
              <a:rPr lang="de-AT" sz="2200"/>
              <a:t>Flexible speicherung für JSON</a:t>
            </a:r>
          </a:p>
          <a:p>
            <a:pPr lvl="1"/>
            <a:r>
              <a:rPr lang="de-AT" sz="2200"/>
              <a:t>Gut für geografische Speicherung</a:t>
            </a:r>
          </a:p>
          <a:p>
            <a:pPr lvl="1"/>
            <a:r>
              <a:rPr lang="de-AT" sz="2200"/>
              <a:t>Skalierbar für große Datenvolumen</a:t>
            </a:r>
          </a:p>
          <a:p>
            <a:r>
              <a:rPr lang="de-AT" sz="2200"/>
              <a:t>Datenspeicher:</a:t>
            </a:r>
          </a:p>
          <a:p>
            <a:pPr lvl="1"/>
            <a:r>
              <a:rPr lang="de-AT" sz="2200"/>
              <a:t>Als JSON gespeichert</a:t>
            </a:r>
          </a:p>
          <a:p>
            <a:pPr lvl="1"/>
            <a:r>
              <a:rPr lang="de-AT" sz="2200"/>
              <a:t>Verkehrsdaten als aggregierte Indikatoren</a:t>
            </a:r>
          </a:p>
        </p:txBody>
      </p:sp>
    </p:spTree>
    <p:extLst>
      <p:ext uri="{BB962C8B-B14F-4D97-AF65-F5344CB8AC3E}">
        <p14:creationId xmlns:p14="http://schemas.microsoft.com/office/powerpoint/2010/main" val="2052712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9D89E1-C514-ECB5-8A2B-0E8751650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de-AT" sz="5400"/>
              <a:t>Up and Download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3791BD-D910-61A1-00E2-04D2AE5E9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de-AT" sz="2200"/>
              <a:t>Daten Upload mittels Python Skript</a:t>
            </a:r>
          </a:p>
          <a:p>
            <a:r>
              <a:rPr lang="de-AT" sz="2200"/>
              <a:t>Daten Download mittels Python Skript</a:t>
            </a:r>
          </a:p>
          <a:p>
            <a:pPr lvl="1"/>
            <a:r>
              <a:rPr lang="de-AT" sz="2200"/>
              <a:t>Als CSV oder JSON</a:t>
            </a:r>
          </a:p>
          <a:p>
            <a:r>
              <a:rPr lang="de-DE" sz="2200"/>
              <a:t>Export für Analysezwecke in Pandas/Spark DataFrames</a:t>
            </a:r>
            <a:endParaRPr lang="de-AT" sz="2200"/>
          </a:p>
        </p:txBody>
      </p:sp>
    </p:spTree>
    <p:extLst>
      <p:ext uri="{BB962C8B-B14F-4D97-AF65-F5344CB8AC3E}">
        <p14:creationId xmlns:p14="http://schemas.microsoft.com/office/powerpoint/2010/main" val="2287978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7B1D857-4D50-552C-13E6-B2A6006D7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de-AT" sz="5400"/>
              <a:t>Analysis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09F1D4A-42A5-8A77-F575-3C4EFC3EF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de-DE" sz="2200"/>
              <a:t>Bereinigung fehlender oder fehlerhafter Werte</a:t>
            </a:r>
          </a:p>
          <a:p>
            <a:r>
              <a:rPr lang="de-DE" sz="2200"/>
              <a:t>Harmonisierung unterschiedlicher Einheiten und Messsysteme</a:t>
            </a:r>
          </a:p>
          <a:p>
            <a:r>
              <a:rPr lang="de-DE" sz="2200"/>
              <a:t>Zeitliche und räumliche Aggregation</a:t>
            </a:r>
          </a:p>
          <a:p>
            <a:r>
              <a:rPr lang="de-DE" sz="2200"/>
              <a:t>Kombination von Luftqualitäts- und Verkehrsdaten</a:t>
            </a:r>
          </a:p>
          <a:p>
            <a:endParaRPr lang="de-AT" sz="2200"/>
          </a:p>
        </p:txBody>
      </p:sp>
    </p:spTree>
    <p:extLst>
      <p:ext uri="{BB962C8B-B14F-4D97-AF65-F5344CB8AC3E}">
        <p14:creationId xmlns:p14="http://schemas.microsoft.com/office/powerpoint/2010/main" val="9973669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95BC774-A928-887F-CC43-9EDCB7BC5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de-AT" sz="5400"/>
              <a:t>Machine Learning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082981C-BED7-8387-112C-282A02B8F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de-DE" sz="2200"/>
              <a:t>Aufteilung der Daten in Trainings- und Testdaten (80/20)</a:t>
            </a:r>
          </a:p>
          <a:p>
            <a:r>
              <a:rPr lang="de-DE" sz="2200"/>
              <a:t>Random Forest Regressor</a:t>
            </a:r>
          </a:p>
          <a:p>
            <a:pPr lvl="1"/>
            <a:r>
              <a:rPr lang="de-DE" sz="2200"/>
              <a:t>Max Tiefe: 8</a:t>
            </a:r>
          </a:p>
          <a:p>
            <a:pPr lvl="1"/>
            <a:r>
              <a:rPr lang="de-DE" sz="2200"/>
              <a:t>Baum Number: 200</a:t>
            </a:r>
          </a:p>
          <a:p>
            <a:pPr lvl="1"/>
            <a:r>
              <a:rPr lang="de-DE" sz="2200"/>
              <a:t>Label: PM2.5, NO2 etc..</a:t>
            </a:r>
          </a:p>
          <a:p>
            <a:r>
              <a:rPr lang="de-DE" sz="2200"/>
              <a:t>Spark Pipeline für MapReduced</a:t>
            </a:r>
          </a:p>
          <a:p>
            <a:r>
              <a:rPr lang="de-DE" sz="2200"/>
              <a:t>Evalution</a:t>
            </a:r>
          </a:p>
          <a:p>
            <a:pPr lvl="1"/>
            <a:r>
              <a:rPr lang="de-DE" sz="2200"/>
              <a:t>RMSE</a:t>
            </a:r>
          </a:p>
          <a:p>
            <a:pPr lvl="1"/>
            <a:r>
              <a:rPr lang="de-DE" sz="2200"/>
              <a:t>R^2</a:t>
            </a:r>
          </a:p>
        </p:txBody>
      </p:sp>
    </p:spTree>
    <p:extLst>
      <p:ext uri="{BB962C8B-B14F-4D97-AF65-F5344CB8AC3E}">
        <p14:creationId xmlns:p14="http://schemas.microsoft.com/office/powerpoint/2010/main" val="299334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D6F046-434C-71DB-5888-DD1D12D9D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43486"/>
            <a:ext cx="4267200" cy="1437406"/>
          </a:xfrm>
        </p:spPr>
        <p:txBody>
          <a:bodyPr anchor="t">
            <a:normAutofit/>
          </a:bodyPr>
          <a:lstStyle/>
          <a:p>
            <a:r>
              <a:rPr lang="de-AT" sz="3200"/>
              <a:t>Evaluierung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7C77032-C865-6057-7D7A-E2743CFA2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96EBAAB-3861-1E69-A0F0-8551251322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5613" y="838200"/>
            <a:ext cx="5501247" cy="1866358"/>
          </a:xfrm>
        </p:spPr>
        <p:txBody>
          <a:bodyPr>
            <a:normAutofit/>
          </a:bodyPr>
          <a:lstStyle/>
          <a:p>
            <a:r>
              <a:rPr lang="de-AT" sz="2000"/>
              <a:t>RMSE (Root Mean Squared Error)</a:t>
            </a:r>
          </a:p>
          <a:p>
            <a:r>
              <a:rPr lang="de-AT" sz="2000"/>
              <a:t>R^2 (Bestimmtheitsmaß)</a:t>
            </a:r>
          </a:p>
          <a:p>
            <a:endParaRPr lang="de-AT" sz="2000"/>
          </a:p>
        </p:txBody>
      </p:sp>
      <p:pic>
        <p:nvPicPr>
          <p:cNvPr id="5" name="Grafik 4" descr="Ein Bild, das Text, Screenshot, Schrift, Reihe enthält.&#10;&#10;KI-generierte Inhalte können fehlerhaft sein.">
            <a:extLst>
              <a:ext uri="{FF2B5EF4-FFF2-40B4-BE49-F238E27FC236}">
                <a16:creationId xmlns:a16="http://schemas.microsoft.com/office/drawing/2014/main" id="{1552940A-F1DC-F855-5A55-8A140DB226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757" y="3947373"/>
            <a:ext cx="10591800" cy="1456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974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602E468-0291-EE11-E91F-FF6723502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de-AT" sz="5400"/>
              <a:t>Data Output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9A78113-DDE0-2B54-8FC8-3377CC37CB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de-AT" sz="2200"/>
              <a:t>Zeitreihenplots der Luftqualität</a:t>
            </a:r>
          </a:p>
          <a:p>
            <a:r>
              <a:rPr lang="de-DE" sz="2200"/>
              <a:t>Korrelationen zwischen Verkehr und Schadstoffen</a:t>
            </a:r>
          </a:p>
          <a:p>
            <a:r>
              <a:rPr lang="de-AT" sz="2200"/>
              <a:t>Vergleich verschiedener Regionen/Länder</a:t>
            </a:r>
          </a:p>
          <a:p>
            <a:r>
              <a:rPr lang="de-DE" sz="2200"/>
              <a:t>Visualisierung von Prognosen und Unsicherheiten</a:t>
            </a:r>
          </a:p>
          <a:p>
            <a:r>
              <a:rPr lang="de-DE" sz="2200"/>
              <a:t>Plots für alle Bundesländer</a:t>
            </a:r>
          </a:p>
          <a:p>
            <a:pPr lvl="1"/>
            <a:r>
              <a:rPr lang="de-DE" sz="2200"/>
              <a:t>Jeweils für alle Schadstoffe</a:t>
            </a:r>
          </a:p>
          <a:p>
            <a:pPr lvl="1"/>
            <a:endParaRPr lang="de-AT" sz="2200"/>
          </a:p>
        </p:txBody>
      </p:sp>
    </p:spTree>
    <p:extLst>
      <p:ext uri="{BB962C8B-B14F-4D97-AF65-F5344CB8AC3E}">
        <p14:creationId xmlns:p14="http://schemas.microsoft.com/office/powerpoint/2010/main" val="35241993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3">
            <a:extLst>
              <a:ext uri="{FF2B5EF4-FFF2-40B4-BE49-F238E27FC236}">
                <a16:creationId xmlns:a16="http://schemas.microsoft.com/office/drawing/2014/main" id="{9527FCEA-6143-4C5E-8C45-8AC9237AD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1A9F23AD-7A55-49F3-A3EC-743F47F36B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7090"/>
            <a:ext cx="6741849" cy="5897880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7D9F91F-72C9-4DB9-ABD0-A8180D826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5" y="480060"/>
            <a:ext cx="4180332" cy="2788074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fik 8" descr="Ein Bild, das Text, Screenshot, Schrift, Diagramm enthält.&#10;&#10;KI-generierte Inhalte können fehlerhaft sein.">
            <a:extLst>
              <a:ext uri="{FF2B5EF4-FFF2-40B4-BE49-F238E27FC236}">
                <a16:creationId xmlns:a16="http://schemas.microsoft.com/office/drawing/2014/main" id="{2A7047AD-F026-04FC-8C6B-C5A960DD3E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2910" y="643467"/>
            <a:ext cx="3300870" cy="2475653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BE016956-CE9F-4946-8834-A8BC3529D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5" y="3603670"/>
            <a:ext cx="4180332" cy="2788074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0ED1B5B4-409A-4CDA-85D2-0FA93BB3A6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9439" y="1520780"/>
            <a:ext cx="6656994" cy="3994195"/>
          </a:xfrm>
          <a:prstGeom prst="rect">
            <a:avLst/>
          </a:prstGeom>
        </p:spPr>
      </p:pic>
      <p:pic>
        <p:nvPicPr>
          <p:cNvPr id="7" name="Grafik 6" descr="Ein Bild, das Text, Diagramm, Screenshot, Reihe enthält.&#10;&#10;KI-generierte Inhalte können fehlerhaft sein.">
            <a:extLst>
              <a:ext uri="{FF2B5EF4-FFF2-40B4-BE49-F238E27FC236}">
                <a16:creationId xmlns:a16="http://schemas.microsoft.com/office/drawing/2014/main" id="{31A17CCA-25A6-DDCC-626B-7FB177DFEA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3831" y="3603670"/>
            <a:ext cx="3699027" cy="2774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0594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E69D7BC-3E2F-1C16-BC27-A71ED7136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de-AT" sz="5400" dirty="0"/>
              <a:t>5 Vs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38E865F-F263-2F5B-2751-97F6ADE9C1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de-DE" sz="2200" b="1"/>
              <a:t>Volume: </a:t>
            </a:r>
            <a:r>
              <a:rPr lang="de-DE" sz="2200"/>
              <a:t>Jahrelange Messdaten, verschiedene Quellen</a:t>
            </a:r>
          </a:p>
          <a:p>
            <a:r>
              <a:rPr lang="de-DE" sz="2200" b="1"/>
              <a:t>Velocity: </a:t>
            </a:r>
            <a:r>
              <a:rPr lang="de-DE" sz="2200"/>
              <a:t>Regelmäßige API-Abfragen </a:t>
            </a:r>
          </a:p>
          <a:p>
            <a:r>
              <a:rPr lang="de-DE" sz="2200" b="1"/>
              <a:t>Variety: </a:t>
            </a:r>
            <a:r>
              <a:rPr lang="de-DE" sz="2200"/>
              <a:t>Unterschiedliche Datenformate (Zeitreihen, JSON, strukturierte und unstrukturierte Daten)</a:t>
            </a:r>
          </a:p>
          <a:p>
            <a:r>
              <a:rPr lang="de-DE" sz="2200" b="1"/>
              <a:t>Veracity: </a:t>
            </a:r>
            <a:r>
              <a:rPr lang="de-DE" sz="2200"/>
              <a:t>Unterschiedliche Datenqualitäten, bereinigung und Validierung</a:t>
            </a:r>
          </a:p>
          <a:p>
            <a:r>
              <a:rPr lang="de-DE" sz="2200" b="1"/>
              <a:t>Value: </a:t>
            </a:r>
            <a:r>
              <a:rPr lang="de-DE" sz="2200"/>
              <a:t>Mehrwert für Umwelt- und Gesundheitsanalysen.</a:t>
            </a:r>
            <a:endParaRPr lang="de-AT" sz="2200"/>
          </a:p>
        </p:txBody>
      </p:sp>
    </p:spTree>
    <p:extLst>
      <p:ext uri="{BB962C8B-B14F-4D97-AF65-F5344CB8AC3E}">
        <p14:creationId xmlns:p14="http://schemas.microsoft.com/office/powerpoint/2010/main" val="14718370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5888DF1-8AAA-0B85-14B1-63D39AC29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100"/>
              <a:t>Zusätzliche Plots (Beispiel Wien)</a:t>
            </a:r>
          </a:p>
        </p:txBody>
      </p:sp>
      <p:sp>
        <p:nvSpPr>
          <p:cNvPr id="41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Grafik 28" descr="Ein Bild, das Text, Screenshot, Diagramm, Zahl enthält.&#10;&#10;KI-generierte Inhalte können fehlerhaft sein.">
            <a:extLst>
              <a:ext uri="{FF2B5EF4-FFF2-40B4-BE49-F238E27FC236}">
                <a16:creationId xmlns:a16="http://schemas.microsoft.com/office/drawing/2014/main" id="{ABB3F48C-9A76-9603-6C3E-AD77AC8F49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771" r="-2" b="431"/>
          <a:stretch>
            <a:fillRect/>
          </a:stretch>
        </p:blipFill>
        <p:spPr>
          <a:xfrm>
            <a:off x="731489" y="2642616"/>
            <a:ext cx="4791517" cy="3605784"/>
          </a:xfrm>
          <a:prstGeom prst="rect">
            <a:avLst/>
          </a:prstGeom>
        </p:spPr>
      </p:pic>
      <p:pic>
        <p:nvPicPr>
          <p:cNvPr id="27" name="Inhaltsplatzhalter 26" descr="Ein Bild, das Text, Screenshot, Rechteck, Diagramm enthält.&#10;&#10;KI-generierte Inhalte können fehlerhaft sein.">
            <a:extLst>
              <a:ext uri="{FF2B5EF4-FFF2-40B4-BE49-F238E27FC236}">
                <a16:creationId xmlns:a16="http://schemas.microsoft.com/office/drawing/2014/main" id="{7801CBCE-3CBE-C78A-7C98-3BB998EC08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5" t="64" r="-837" b="1999"/>
          <a:stretch>
            <a:fillRect/>
          </a:stretch>
        </p:blipFill>
        <p:spPr>
          <a:xfrm>
            <a:off x="6607162" y="2642616"/>
            <a:ext cx="4909083" cy="3605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1438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 descr="Ein Bild, das Text, Screenshot, Reihe, Diagramm enthält.&#10;&#10;KI-generierte Inhalte können fehlerhaft sein.">
            <a:extLst>
              <a:ext uri="{FF2B5EF4-FFF2-40B4-BE49-F238E27FC236}">
                <a16:creationId xmlns:a16="http://schemas.microsoft.com/office/drawing/2014/main" id="{E3AF73CE-337F-3CB8-489E-3B66F0FFB7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3804" y="321734"/>
            <a:ext cx="3873560" cy="290517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417CDA24-35F8-4540-8C52-3096D6D949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fik 10" descr="Ein Bild, das Text, Reihe, Screenshot, Diagramm enthält.&#10;&#10;KI-generierte Inhalte können fehlerhaft sein.">
            <a:extLst>
              <a:ext uri="{FF2B5EF4-FFF2-40B4-BE49-F238E27FC236}">
                <a16:creationId xmlns:a16="http://schemas.microsoft.com/office/drawing/2014/main" id="{EFD1690A-EEAD-1BF4-75F6-268C17647E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7551" y="321734"/>
            <a:ext cx="3873560" cy="290517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8658BFE0-4E65-4174-9C75-687C94E88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A75DFED-A0C1-4A83-BE1D-0271C1826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6552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fik 6" descr="Ein Bild, das Text, Screenshot, Reihe, Diagramm enthält.&#10;&#10;KI-generierte Inhalte können fehlerhaft sein.">
            <a:extLst>
              <a:ext uri="{FF2B5EF4-FFF2-40B4-BE49-F238E27FC236}">
                <a16:creationId xmlns:a16="http://schemas.microsoft.com/office/drawing/2014/main" id="{7F48B12A-9DEF-520A-2258-DBE1B9DC5F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210" y="3631096"/>
            <a:ext cx="3680746" cy="2760560"/>
          </a:xfrm>
          <a:prstGeom prst="rect">
            <a:avLst/>
          </a:prstGeom>
        </p:spPr>
      </p:pic>
      <p:pic>
        <p:nvPicPr>
          <p:cNvPr id="5" name="Inhaltsplatzhalter 4" descr="Ein Bild, das Text, Reihe, Screenshot, Diagramm enthält.&#10;&#10;KI-generierte Inhalte können fehlerhaft sein.">
            <a:extLst>
              <a:ext uri="{FF2B5EF4-FFF2-40B4-BE49-F238E27FC236}">
                <a16:creationId xmlns:a16="http://schemas.microsoft.com/office/drawing/2014/main" id="{7D90D877-9F55-1C6D-E762-59EE96582E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3958" y="3631096"/>
            <a:ext cx="3680746" cy="276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3570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 descr="Ein Bild, das Text, Screenshot, Reihe, Diagramm enthält.&#10;&#10;KI-generierte Inhalte können fehlerhaft sein.">
            <a:extLst>
              <a:ext uri="{FF2B5EF4-FFF2-40B4-BE49-F238E27FC236}">
                <a16:creationId xmlns:a16="http://schemas.microsoft.com/office/drawing/2014/main" id="{8EB83E6C-4989-094D-C40E-CEDE78D746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3804" y="321734"/>
            <a:ext cx="3873560" cy="290517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417CDA24-35F8-4540-8C52-3096D6D949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nhaltsplatzhalter 4" descr="Ein Bild, das Text, Reihe, Screenshot, Diagramm enthält.&#10;&#10;KI-generierte Inhalte können fehlerhaft sein.">
            <a:extLst>
              <a:ext uri="{FF2B5EF4-FFF2-40B4-BE49-F238E27FC236}">
                <a16:creationId xmlns:a16="http://schemas.microsoft.com/office/drawing/2014/main" id="{C9E6110E-4EC2-33B9-5326-1E3E372365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7551" y="321734"/>
            <a:ext cx="3873560" cy="290517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8658BFE0-4E65-4174-9C75-687C94E88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A75DFED-A0C1-4A83-BE1D-0271C1826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6552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fik 6" descr="Ein Bild, das Reihe, Text, Diagramm, Screenshot enthält.&#10;&#10;KI-generierte Inhalte können fehlerhaft sein.">
            <a:extLst>
              <a:ext uri="{FF2B5EF4-FFF2-40B4-BE49-F238E27FC236}">
                <a16:creationId xmlns:a16="http://schemas.microsoft.com/office/drawing/2014/main" id="{0D053387-9EFB-F4EB-1DCC-1BAC6F1831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210" y="3631096"/>
            <a:ext cx="3680746" cy="2760560"/>
          </a:xfrm>
          <a:prstGeom prst="rect">
            <a:avLst/>
          </a:prstGeom>
        </p:spPr>
      </p:pic>
      <p:pic>
        <p:nvPicPr>
          <p:cNvPr id="11" name="Grafik 10" descr="Ein Bild, das Text, Reihe, Screenshot, Diagramm enthält.&#10;&#10;KI-generierte Inhalte können fehlerhaft sein.">
            <a:extLst>
              <a:ext uri="{FF2B5EF4-FFF2-40B4-BE49-F238E27FC236}">
                <a16:creationId xmlns:a16="http://schemas.microsoft.com/office/drawing/2014/main" id="{FAB6E1EE-1EC1-BD0C-CE66-793EAAE16C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3958" y="3631096"/>
            <a:ext cx="3680746" cy="276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296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nhaltsplatzhalter 4" descr="Ein Bild, das Reihe, Text, Diagramm, Screenshot enthält.&#10;&#10;KI-generierte Inhalte können fehlerhaft sein.">
            <a:extLst>
              <a:ext uri="{FF2B5EF4-FFF2-40B4-BE49-F238E27FC236}">
                <a16:creationId xmlns:a16="http://schemas.microsoft.com/office/drawing/2014/main" id="{8A2A7C39-6A74-4E96-E2EE-1CA934D5D8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443480"/>
            <a:ext cx="5294716" cy="3971037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fik 6" descr="Ein Bild, das Text, Reihe, Screenshot, Diagramm enthält.&#10;&#10;KI-generierte Inhalte können fehlerhaft sein.">
            <a:extLst>
              <a:ext uri="{FF2B5EF4-FFF2-40B4-BE49-F238E27FC236}">
                <a16:creationId xmlns:a16="http://schemas.microsoft.com/office/drawing/2014/main" id="{5906601A-3E19-EE99-61C1-6B223C7E48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3817" y="1443482"/>
            <a:ext cx="5294715" cy="3971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919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F15808-2B76-5355-EE1D-729FCC71E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Quellen: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4CC2285-384E-6D79-10EA-8A98F2BA6C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dirty="0"/>
              <a:t>Schadstoffe: </a:t>
            </a:r>
          </a:p>
          <a:p>
            <a:pPr lvl="1"/>
            <a:r>
              <a:rPr lang="de-DE" dirty="0">
                <a:hlinkClick r:id="rId3"/>
              </a:rPr>
              <a:t>https://air-quality-api.open-meteo.com/v1/air-quality</a:t>
            </a:r>
            <a:endParaRPr lang="de-DE" dirty="0"/>
          </a:p>
          <a:p>
            <a:pPr lvl="1"/>
            <a:r>
              <a:rPr lang="de-DE" dirty="0">
                <a:hlinkClick r:id="rId4"/>
              </a:rPr>
              <a:t>https://www.data.gv.at/datasets/7a5d006d-2820-4a72-8085-023af83041d8?locale=de</a:t>
            </a:r>
            <a:endParaRPr lang="de-DE" dirty="0"/>
          </a:p>
          <a:p>
            <a:pPr lvl="1"/>
            <a:r>
              <a:rPr lang="de-DE" dirty="0">
                <a:hlinkClick r:id="rId5"/>
              </a:rPr>
              <a:t>https://www.stateofglobalair.org/</a:t>
            </a:r>
            <a:endParaRPr lang="de-DE" dirty="0"/>
          </a:p>
          <a:p>
            <a:r>
              <a:rPr lang="de-DE" b="1" dirty="0"/>
              <a:t>Verkehr:</a:t>
            </a:r>
          </a:p>
          <a:p>
            <a:pPr lvl="1"/>
            <a:r>
              <a:rPr lang="de-DE" dirty="0"/>
              <a:t>Statistik Straße und Verkehr, Bundesministerium Innovation, Mobilität und Infrastruktur</a:t>
            </a:r>
          </a:p>
          <a:p>
            <a:pPr lvl="1"/>
            <a:r>
              <a:rPr lang="de-DE" dirty="0">
                <a:hlinkClick r:id="rId6"/>
              </a:rPr>
              <a:t>https://www.wko.at/statistik/jahrbuch/verkehr-pkwdichte.pdf</a:t>
            </a:r>
            <a:endParaRPr lang="de-DE" dirty="0"/>
          </a:p>
          <a:p>
            <a:pPr marL="457200" lvl="1" indent="0">
              <a:buNone/>
            </a:pPr>
            <a:endParaRPr lang="de-DE" dirty="0"/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356725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519</Words>
  <Application>Microsoft Office PowerPoint</Application>
  <PresentationFormat>Breitbild</PresentationFormat>
  <Paragraphs>94</Paragraphs>
  <Slides>18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Office</vt:lpstr>
      <vt:lpstr>Luftqualität im Zusammenhang mit Verkehrsteilnehmer</vt:lpstr>
      <vt:lpstr>Data Source</vt:lpstr>
      <vt:lpstr>Datenerhebung</vt:lpstr>
      <vt:lpstr>Datenqualität</vt:lpstr>
      <vt:lpstr>Benutze Daten</vt:lpstr>
      <vt:lpstr>Data Storage</vt:lpstr>
      <vt:lpstr>Up and Download</vt:lpstr>
      <vt:lpstr>Analysis</vt:lpstr>
      <vt:lpstr>Machine Learning</vt:lpstr>
      <vt:lpstr>Evaluierung</vt:lpstr>
      <vt:lpstr>Data Output</vt:lpstr>
      <vt:lpstr>PowerPoint-Präsentation</vt:lpstr>
      <vt:lpstr>5 Vs</vt:lpstr>
      <vt:lpstr>Zusätzliche Plots (Beispiel Wien)</vt:lpstr>
      <vt:lpstr>PowerPoint-Präsentation</vt:lpstr>
      <vt:lpstr>PowerPoint-Präsentation</vt:lpstr>
      <vt:lpstr>PowerPoint-Präsentation</vt:lpstr>
      <vt:lpstr>Quellen: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Stefan Werner</dc:creator>
  <cp:lastModifiedBy>Stefan WERNER | Admin4U</cp:lastModifiedBy>
  <cp:revision>5</cp:revision>
  <dcterms:created xsi:type="dcterms:W3CDTF">2026-01-13T10:33:59Z</dcterms:created>
  <dcterms:modified xsi:type="dcterms:W3CDTF">2026-01-15T11:27:48Z</dcterms:modified>
</cp:coreProperties>
</file>